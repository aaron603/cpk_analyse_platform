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68" y="56"/>
      </p:cViewPr>
      <p:guideLst>
        <p:guide orient="horz" pos="2160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27" Type="http://schemas.openxmlformats.org/officeDocument/2006/relationships/tags" Target="tags/tag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BEAF0-0B05-4D8B-8607-C43D6823026D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BC3C0-3978-4B36-AB7A-4738F28C06A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6701" y="2692682"/>
            <a:ext cx="8589971" cy="1413411"/>
          </a:xfrm>
        </p:spPr>
        <p:txBody>
          <a:bodyPr anchor="t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99" y="400385"/>
            <a:ext cx="1585813" cy="479432"/>
          </a:xfrm>
          <a:prstGeom prst="rect">
            <a:avLst/>
          </a:prstGeom>
        </p:spPr>
      </p:pic>
      <p:sp>
        <p:nvSpPr>
          <p:cNvPr id="9" name="textruta 6"/>
          <p:cNvSpPr txBox="1"/>
          <p:nvPr userDrawn="1"/>
        </p:nvSpPr>
        <p:spPr>
          <a:xfrm>
            <a:off x="11132872" y="6210400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11" name="textruta 6"/>
          <p:cNvSpPr txBox="1"/>
          <p:nvPr userDrawn="1"/>
        </p:nvSpPr>
        <p:spPr>
          <a:xfrm>
            <a:off x="498475" y="6195011"/>
            <a:ext cx="482167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  <a:t>This presentation contains privileged and confidential information. If you are not the intended recipient, </a:t>
            </a:r>
            <a:b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</a:br>
            <a: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  <a:t>you are hereby notified that you should immediately delete all copies.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801034" y="490135"/>
            <a:ext cx="889370" cy="282811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6701" y="2692682"/>
            <a:ext cx="8589971" cy="1413411"/>
          </a:xfrm>
        </p:spPr>
        <p:txBody>
          <a:bodyPr anchor="t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textruta 6"/>
          <p:cNvSpPr txBox="1"/>
          <p:nvPr userDrawn="1"/>
        </p:nvSpPr>
        <p:spPr>
          <a:xfrm>
            <a:off x="11132872" y="6210400"/>
            <a:ext cx="560653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11" name="textruta 6"/>
          <p:cNvSpPr txBox="1"/>
          <p:nvPr userDrawn="1"/>
        </p:nvSpPr>
        <p:spPr>
          <a:xfrm>
            <a:off x="498475" y="6195011"/>
            <a:ext cx="482167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GB" sz="700" dirty="0">
                <a:solidFill>
                  <a:schemeClr val="bg1"/>
                </a:solidFill>
                <a:ea typeface="Inter" panose="02000603000000020004" pitchFamily="2" charset="0"/>
              </a:rPr>
              <a:t>This presentation contains privileged and confidential information. If you are not the intended recipient, </a:t>
            </a:r>
            <a:br>
              <a:rPr lang="en-GB" sz="700" dirty="0">
                <a:solidFill>
                  <a:schemeClr val="bg1"/>
                </a:solidFill>
                <a:ea typeface="Inter" panose="02000603000000020004" pitchFamily="2" charset="0"/>
              </a:rPr>
            </a:br>
            <a:r>
              <a:rPr lang="en-GB" sz="700" dirty="0">
                <a:solidFill>
                  <a:schemeClr val="bg1"/>
                </a:solidFill>
                <a:ea typeface="Inter" panose="02000603000000020004" pitchFamily="2" charset="0"/>
              </a:rPr>
              <a:t>you are hereby notified that you should immediately delete all copies.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801034" y="490135"/>
            <a:ext cx="889370" cy="282811"/>
          </a:xfrm>
        </p:spPr>
        <p:txBody>
          <a:bodyPr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899" y="408988"/>
            <a:ext cx="1585813" cy="4708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ndoor, dark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814513" y="1900365"/>
            <a:ext cx="8979786" cy="3328385"/>
          </a:xfrm>
        </p:spPr>
        <p:txBody>
          <a:bodyPr anchor="ctr" anchorCtr="0"/>
          <a:lstStyle>
            <a:lvl1pPr algn="l">
              <a:defRPr sz="4800"/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814513" y="1900365"/>
            <a:ext cx="8979786" cy="3328385"/>
          </a:xfrm>
        </p:spPr>
        <p:txBody>
          <a:bodyPr anchor="ctr" anchorCtr="0"/>
          <a:lstStyle>
            <a:lvl1pPr algn="l">
              <a:defRPr sz="4800"/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814513" y="1900365"/>
            <a:ext cx="8979786" cy="3328385"/>
          </a:xfrm>
        </p:spPr>
        <p:txBody>
          <a:bodyPr anchor="ctr" anchorCtr="0"/>
          <a:lstStyle>
            <a:lvl1pPr algn="l">
              <a:defRPr sz="4800"/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814513" y="1900365"/>
            <a:ext cx="8979786" cy="3328385"/>
          </a:xfrm>
        </p:spPr>
        <p:txBody>
          <a:bodyPr anchor="ctr" anchorCtr="0"/>
          <a:lstStyle>
            <a:lvl1pPr algn="l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5" name="textruta 6"/>
          <p:cNvSpPr txBox="1"/>
          <p:nvPr userDrawn="1"/>
        </p:nvSpPr>
        <p:spPr>
          <a:xfrm>
            <a:off x="10233463" y="496615"/>
            <a:ext cx="560653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814513" y="1900365"/>
            <a:ext cx="8979786" cy="3328385"/>
          </a:xfrm>
        </p:spPr>
        <p:txBody>
          <a:bodyPr anchor="ctr" anchorCtr="0"/>
          <a:lstStyle>
            <a:lvl1pPr algn="l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5" name="textruta 6"/>
          <p:cNvSpPr txBox="1"/>
          <p:nvPr userDrawn="1"/>
        </p:nvSpPr>
        <p:spPr>
          <a:xfrm>
            <a:off x="10233463" y="496615"/>
            <a:ext cx="560653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974682" y="368301"/>
            <a:ext cx="8538109" cy="419802"/>
          </a:xfrm>
        </p:spPr>
        <p:txBody>
          <a:bodyPr/>
          <a:lstStyle>
            <a:lvl1pPr marL="0" indent="0">
              <a:buNone/>
              <a:defRPr sz="25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Page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974682" y="368301"/>
            <a:ext cx="8538109" cy="419802"/>
          </a:xfrm>
        </p:spPr>
        <p:txBody>
          <a:bodyPr/>
          <a:lstStyle>
            <a:lvl1pPr marL="0" indent="0">
              <a:buNone/>
              <a:defRPr sz="25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Page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9" name="textruta 6"/>
          <p:cNvSpPr txBox="1"/>
          <p:nvPr userDrawn="1"/>
        </p:nvSpPr>
        <p:spPr>
          <a:xfrm>
            <a:off x="10233463" y="496615"/>
            <a:ext cx="560653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30078" y="1668525"/>
            <a:ext cx="3509568" cy="443183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First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7825596" y="2141687"/>
            <a:ext cx="3515996" cy="2703513"/>
          </a:xfrm>
        </p:spPr>
        <p:txBody>
          <a:bodyPr/>
          <a:lstStyle>
            <a:lvl1pPr marL="303530" indent="-303530">
              <a:defRPr sz="1800"/>
            </a:lvl1pPr>
            <a:lvl2pPr marL="303530" indent="-303530">
              <a:defRPr sz="1800"/>
            </a:lvl2pPr>
            <a:lvl3pPr marL="303530" indent="-303530">
              <a:defRPr sz="1800"/>
            </a:lvl3pPr>
            <a:lvl4pPr marL="303530" indent="-303530">
              <a:defRPr sz="1800"/>
            </a:lvl4pPr>
            <a:lvl5pPr marL="303530" indent="-303530"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51725" cy="6858000"/>
          </a:xfrm>
        </p:spPr>
        <p:txBody>
          <a:bodyPr tIns="1908000"/>
          <a:lstStyle>
            <a:lvl1pPr marL="0" indent="0" algn="ctr">
              <a:buNone/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74116"/>
            <a:ext cx="277200" cy="428400"/>
          </a:xfrm>
          <a:blipFill>
            <a:blip r:embed="rId2"/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849133" y="495164"/>
            <a:ext cx="1944688" cy="232682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dirty="0"/>
              <a:t>© </a:t>
            </a:r>
            <a:r>
              <a:rPr lang="en-US" dirty="0" err="1"/>
              <a:t>Zillnk</a:t>
            </a:r>
            <a:endParaRPr lang="en-US" dirty="0"/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223" y="1668526"/>
            <a:ext cx="4445991" cy="295960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223" y="1960956"/>
            <a:ext cx="4445991" cy="30545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888088" y="1960956"/>
            <a:ext cx="4892924" cy="30545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885007" y="1669289"/>
            <a:ext cx="4901904" cy="295193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74682" y="368301"/>
            <a:ext cx="8538109" cy="419802"/>
          </a:xfrm>
        </p:spPr>
        <p:txBody>
          <a:bodyPr/>
          <a:lstStyle>
            <a:lvl1pPr marL="0" indent="0">
              <a:buNone/>
              <a:defRPr sz="25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Page title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861" y="1668526"/>
            <a:ext cx="4445991" cy="295960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861" y="1960956"/>
            <a:ext cx="4445991" cy="30545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74682" y="368301"/>
            <a:ext cx="8538109" cy="419802"/>
          </a:xfrm>
        </p:spPr>
        <p:txBody>
          <a:bodyPr/>
          <a:lstStyle>
            <a:lvl1pPr marL="0" indent="0">
              <a:buNone/>
              <a:defRPr sz="25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Page title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26313" y="949325"/>
            <a:ext cx="4865687" cy="5908675"/>
          </a:xfrm>
        </p:spPr>
        <p:txBody>
          <a:bodyPr tIns="1332000"/>
          <a:lstStyle>
            <a:lvl1pPr marL="0" indent="0" algn="ctr"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223" y="1668526"/>
            <a:ext cx="4445991" cy="295960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223" y="1960956"/>
            <a:ext cx="4445991" cy="30545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974682" y="368301"/>
            <a:ext cx="8538109" cy="419802"/>
          </a:xfrm>
        </p:spPr>
        <p:txBody>
          <a:bodyPr/>
          <a:lstStyle>
            <a:lvl1pPr marL="0" indent="0">
              <a:buNone/>
              <a:defRPr sz="2500" b="1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Page title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dark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53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ark, light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181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2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8354" y="2779397"/>
            <a:ext cx="9144000" cy="2387600"/>
          </a:xfrm>
        </p:spPr>
        <p:txBody>
          <a:bodyPr anchor="t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734427" y="1"/>
            <a:ext cx="7457574" cy="6858000"/>
          </a:xfrm>
        </p:spPr>
        <p:txBody>
          <a:bodyPr tIns="1332000"/>
          <a:lstStyle>
            <a:lvl1pPr marL="0" indent="0" algn="ctr"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1668526"/>
            <a:ext cx="3466934" cy="295960"/>
          </a:xfrm>
        </p:spPr>
        <p:txBody>
          <a:bodyPr/>
          <a:lstStyle>
            <a:lvl1pPr>
              <a:defRPr sz="1800" b="1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993085" y="493033"/>
            <a:ext cx="798286" cy="232681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dirty="0"/>
              <a:t>© </a:t>
            </a:r>
            <a:r>
              <a:rPr lang="en-US" dirty="0" err="1"/>
              <a:t>Zillnk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479424" y="2155825"/>
            <a:ext cx="3505553" cy="4225925"/>
          </a:xfrm>
        </p:spPr>
        <p:txBody>
          <a:bodyPr tIns="756000"/>
          <a:lstStyle>
            <a:lvl1pPr marL="0" indent="0" algn="ctr">
              <a:buNone/>
              <a:defRPr sz="1400"/>
            </a:lvl1pPr>
          </a:lstStyle>
          <a:p>
            <a:r>
              <a:rPr lang="zh-CN" altLang="en-US"/>
              <a:t>单击图标添加表格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7525753" cy="6858000"/>
          </a:xfrm>
          <a:solidFill>
            <a:schemeClr val="bg1"/>
          </a:solidFill>
        </p:spPr>
        <p:txBody>
          <a:bodyPr tIns="133200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2909" y="1668526"/>
            <a:ext cx="3779504" cy="2959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74116"/>
            <a:ext cx="277200" cy="428400"/>
          </a:xfrm>
          <a:blipFill>
            <a:blip r:embed="rId2"/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solidFill>
                  <a:schemeClr val="bg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solidFill>
                <a:schemeClr val="bg1"/>
              </a:solidFill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able Placeholder 3"/>
          <p:cNvSpPr>
            <a:spLocks noGrp="1"/>
          </p:cNvSpPr>
          <p:nvPr>
            <p:ph type="tbl" sz="quarter" idx="14" hasCustomPrompt="1"/>
          </p:nvPr>
        </p:nvSpPr>
        <p:spPr>
          <a:xfrm>
            <a:off x="7902200" y="2155825"/>
            <a:ext cx="3780213" cy="4225925"/>
          </a:xfrm>
        </p:spPr>
        <p:txBody>
          <a:bodyPr tIns="75600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单击图标添加表格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6" name="textruta 6"/>
          <p:cNvSpPr txBox="1"/>
          <p:nvPr userDrawn="1"/>
        </p:nvSpPr>
        <p:spPr>
          <a:xfrm>
            <a:off x="498475" y="6195011"/>
            <a:ext cx="482167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  <a:t>This presentation contains privileged and confidential information. If you are not the intended recipient, </a:t>
            </a:r>
            <a:b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</a:br>
            <a:r>
              <a:rPr lang="en-GB" sz="700" dirty="0">
                <a:solidFill>
                  <a:prstClr val="black"/>
                </a:solidFill>
                <a:ea typeface="Inter" panose="02000603000000020004" pitchFamily="2" charset="0"/>
              </a:rPr>
              <a:t>you are hereby notified that you should immediately delete all copies.</a:t>
            </a:r>
          </a:p>
        </p:txBody>
      </p:sp>
      <p:sp>
        <p:nvSpPr>
          <p:cNvPr id="8" name="Title 19"/>
          <p:cNvSpPr txBox="1"/>
          <p:nvPr userDrawn="1"/>
        </p:nvSpPr>
        <p:spPr>
          <a:xfrm>
            <a:off x="7385406" y="5552947"/>
            <a:ext cx="2034998" cy="270147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" b="0" i="0" kern="1200">
                <a:solidFill>
                  <a:schemeClr val="tx1"/>
                </a:solidFill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defRPr>
            </a:lvl1pPr>
          </a:lstStyle>
          <a:p>
            <a:r>
              <a:rPr lang="en-US" b="1" dirty="0">
                <a:latin typeface="Inter" panose="02000603000000020004" pitchFamily="2" charset="0"/>
                <a:ea typeface="Inter" panose="02000603000000020004" pitchFamily="2" charset="0"/>
                <a:cs typeface="Inter Medium" panose="02000603000000020004" pitchFamily="50" charset="0"/>
              </a:rPr>
              <a:t>Contact</a:t>
            </a:r>
            <a:br>
              <a:rPr lang="en-US" b="1" dirty="0">
                <a:latin typeface="Inter" panose="02000603000000020004" pitchFamily="2" charset="0"/>
                <a:ea typeface="Inter" panose="02000603000000020004" pitchFamily="2" charset="0"/>
                <a:cs typeface="Inter Medium" panose="02000603000000020004" pitchFamily="50" charset="0"/>
              </a:rPr>
            </a:br>
            <a:br>
              <a:rPr lang="en-US" dirty="0">
                <a:latin typeface="Inter" panose="02000603000000020004" pitchFamily="2" charset="0"/>
                <a:ea typeface="Inter" panose="02000603000000020004" pitchFamily="2" charset="0"/>
              </a:rPr>
            </a:b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387390" y="5853842"/>
            <a:ext cx="1804737" cy="612941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info@zillnk.com</a:t>
            </a:r>
          </a:p>
          <a:p>
            <a:pPr lvl="0"/>
            <a:r>
              <a:rPr lang="en-US" dirty="0"/>
              <a:t>+75 123-456-78</a:t>
            </a:r>
          </a:p>
          <a:p>
            <a:pPr lvl="0"/>
            <a:r>
              <a:rPr lang="en-US" dirty="0"/>
              <a:t>Zillnk.com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731828" y="5853842"/>
            <a:ext cx="1950585" cy="612941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120 West Beaver Creek Rd, Richmond Hill, ON L4B 1L2</a:t>
            </a:r>
          </a:p>
          <a:p>
            <a:pPr lvl="0"/>
            <a:r>
              <a:rPr lang="en-US" dirty="0"/>
              <a:t>Canada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2738" y="2833616"/>
            <a:ext cx="5806523" cy="1190767"/>
          </a:xfrm>
          <a:prstGeom prst="rect">
            <a:avLst/>
          </a:prstGeom>
        </p:spPr>
      </p:pic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13223" y="1668525"/>
            <a:ext cx="9039225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3223" y="3470110"/>
            <a:ext cx="9039225" cy="2911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482169" y="375430"/>
            <a:ext cx="277354" cy="427037"/>
          </a:xfrm>
          <a:prstGeom prst="rect">
            <a:avLst/>
          </a:prstGeom>
        </p:spPr>
      </p:pic>
      <p:sp>
        <p:nvSpPr>
          <p:cNvPr id="10" name="textruta 6"/>
          <p:cNvSpPr txBox="1"/>
          <p:nvPr userDrawn="1"/>
        </p:nvSpPr>
        <p:spPr>
          <a:xfrm>
            <a:off x="10233463" y="496615"/>
            <a:ext cx="56065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sv-SE" sz="1200" dirty="0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© </a:t>
            </a:r>
            <a:r>
              <a:rPr lang="sv-SE" sz="1200" dirty="0" err="1">
                <a:latin typeface="Inter" panose="02000603000000020004" pitchFamily="2" charset="0"/>
                <a:ea typeface="Inter" panose="02000603000000020004" pitchFamily="2" charset="0"/>
                <a:cs typeface="Inter" panose="02000603000000020004" pitchFamily="2" charset="0"/>
              </a:rPr>
              <a:t>Zillnk</a:t>
            </a:r>
            <a:endParaRPr lang="sv-SE" sz="1200" dirty="0">
              <a:latin typeface="Inter" panose="02000603000000020004" pitchFamily="2" charset="0"/>
              <a:ea typeface="Inter" panose="02000603000000020004" pitchFamily="2" charset="0"/>
              <a:cs typeface="Inter" panose="02000603000000020004" pitchFamily="2" charset="0"/>
            </a:endParaRP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820401" y="412749"/>
            <a:ext cx="957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Faktum" panose="020B0003030202060203" pitchFamily="34" charset="0"/>
              </a:defRPr>
            </a:lvl1pPr>
          </a:lstStyle>
          <a:p>
            <a:fld id="{BD67A19E-F43E-4C47-AFBD-EE711DAB9D2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49039"/>
            <a:ext cx="12188952" cy="109728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产线数据分析AI平台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CCCC"/>
                </a:solidFill>
              </a:rPr>
              <a:t>Zillnk Efficiency Improvement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E5E5"/>
                </a:solidFill>
              </a:rPr>
              <a:t>v2.0  |  功能架构说明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</a:rPr>
              <a:t>本地测试站数据分析  ·  CPK 计算  ·  故障定位关系库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Python 3  ·  tkinter GUI  ·  openpyxl  ·  SQLite  ·  Ollama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平台概览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设计目标 · 用户群体 · 三大功能模块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56616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39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平台定位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55064"/>
            <a:ext cx="3566160" cy="195681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93164"/>
            <a:ext cx="3429000" cy="189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供 Zillnk 质量工程师使用的本地数据分析工具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无需联网，数据不出厂，保障数据安全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支持 PA 板（B3/B40）、RRU（Apricot）等多产品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配置持久化，重启自动恢复上次设置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分析结果自动打开浏览器查看 HTML 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325880"/>
            <a:ext cx="4023360" cy="329184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13639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功能一：本地测试站数据分析（已实现）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655064"/>
            <a:ext cx="4023360" cy="1956816"/>
          </a:xfrm>
          <a:prstGeom prst="rect">
            <a:avLst/>
          </a:prstGeom>
          <a:solidFill>
            <a:srgbClr val="E8F5E9"/>
          </a:solidFill>
          <a:ln w="9525">
            <a:solidFill>
              <a:srgbClr val="376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693164"/>
            <a:ext cx="3886200" cy="189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5种分析模式：最后pass / 所选文件夹 / 全部成功 / 含失败 / 仅失败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自动遍历工站目录，提取 xlsx / json 测试文件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CPK 计算 + 综合 HTML 报告（6 Tab）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失败分析报告 + 故障关系库（SQLite）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工站合并配置，多机台数据合并分析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566160" cy="329184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3639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功能二 / 三（待实现）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655064"/>
            <a:ext cx="3566160" cy="1956816"/>
          </a:xfrm>
          <a:prstGeom prst="rect">
            <a:avLst/>
          </a:prstGeom>
          <a:solidFill>
            <a:srgbClr val="FFF8E1"/>
          </a:solidFill>
          <a:ln w="9525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93164"/>
            <a:ext cx="3429000" cy="189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功能二：深科技 MES 导出数据 CPK 分析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功能三：立讯 MES 导出数据 CPK 分析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支持批次、工站、产品型号多维度分析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1161288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787139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技术栈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78223"/>
            <a:ext cx="11612880" cy="223113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16323"/>
            <a:ext cx="11475720" cy="216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GUI：Python tkinter（5 Section 自适应布局，深色日志窗口）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数据处理：pandas · openpyxl · shutil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故障知识库：SQLite（fault_rules / fault_records / fault_stats）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报告生成：自包含 HTML + Chart.js（CDN）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LLM 增强：Ollama（localhost:11434，可选，推荐 qwen2.5:7b）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文件模块职责划分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384048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40970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00784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38884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主窗口 + 事件驱动 GUI（LocalAnalysisTab）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StationRow / MergeRuleRow 配置行组件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_run_analysis() 后台线程主流程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app_config.json 持久化读写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菜单：工具→加载故障规则 / 帮助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1371600"/>
            <a:ext cx="3840480" cy="329184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0970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core/data_extractor.py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8" y="1700784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38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738884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run_extraction()：latest_pass/all/fail_only 模式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run_extraction_all_pass()：全部成功记录遍历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run_extraction_traverse()：所选文件夹全量遍历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discover_barcodes()：自动发现条码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generate_missing/duplicate/folder_direct_excel()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371600"/>
            <a:ext cx="3840480" cy="329184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40970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core/cpk_calculator.py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700784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376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738884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analyze_xlsx_folder() / analyze_json_folder()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读取 Test_Result_*.xlsx 或 *_MEASUREMENT_*.json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计算均值、标准差、Cp、Cpk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_file_time_from_name()：文件名时间戳优先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values 存 (barcode, value, is_pass) 三元组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21608"/>
            <a:ext cx="3840480" cy="329184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375970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core/fault_analyzer.py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050792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088892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run_fault_analysis()：结构化日志解析+规则匹配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Ollama LLM 增强（基础版/增强版可选）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generate_fault_barcode_list()：故障条码Excel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generate_rule_suggestions_yaml()：规则建议模板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跨站分析：get_cross_station_barcodes()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8" y="3721608"/>
            <a:ext cx="3840480" cy="329184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75970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core/fault_db.py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8" y="4050792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4088892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SQLite 三表：fault_rules/fault_records/fault_stats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16 类种子规则预置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init_db() 含自动 schema 迁移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add_rule / update_rule / get_rules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721608"/>
            <a:ext cx="3840480" cy="329184"/>
          </a:xfrm>
          <a:prstGeom prst="rect">
            <a:avLst/>
          </a:prstGeom>
          <a:solidFill>
            <a:srgbClr val="00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375970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core/html_*.py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4050792"/>
            <a:ext cx="3840480" cy="1911096"/>
          </a:xfrm>
          <a:prstGeom prst="rect">
            <a:avLst/>
          </a:prstGeom>
          <a:solidFill>
            <a:srgbClr val="FDE2E1"/>
          </a:solidFill>
          <a:ln w="9525">
            <a:solidFill>
              <a:srgbClr val="00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4088892"/>
            <a:ext cx="3703320" cy="1847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html_comprehensive_report.py：6 Tab 综合报告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html_fail_report.py：帕累托+汇总卡+失败条码表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000000"/>
                </a:solidFill>
              </a:rPr>
              <a:t>• html_report.py：CPK 专项报告（按工站+大项）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GUI 界面布局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5 Section 自适应布局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922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649224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97000"/>
            <a:ext cx="6355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产线数据分析AI平台 — Zillnk Efficiency Improvement Group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645920"/>
            <a:ext cx="1508760" cy="246888"/>
          </a:xfrm>
          <a:prstGeom prst="rect">
            <a:avLst/>
          </a:prstGeom>
          <a:solidFill>
            <a:srgbClr val="F5ECE9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00000"/>
                </a:solidFill>
              </a:rPr>
              <a:t>本地数据分析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1645920"/>
            <a:ext cx="1508760" cy="24688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1645920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深科技MES分析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1645920"/>
            <a:ext cx="1508760" cy="24688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1645920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立讯MES分析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01952"/>
            <a:ext cx="6309360" cy="347472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940052"/>
            <a:ext cx="6172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0000"/>
                </a:solidFill>
              </a:rPr>
              <a:t>Section 1  输入/输出配置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95144"/>
            <a:ext cx="6309360" cy="1645920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333244"/>
            <a:ext cx="6172200" cy="159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0000"/>
                </a:solidFill>
              </a:rPr>
              <a:t>Section 2/3  工站配置（左）+  分析模式（右）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86784"/>
            <a:ext cx="6309360" cy="475488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4884"/>
            <a:ext cx="6172200" cy="42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0000"/>
                </a:solidFill>
              </a:rPr>
              <a:t>Section 4  [ 开始分析 ]  [ 查看日志 ]  ████████░░ 进度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371600"/>
            <a:ext cx="484632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14097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Section 1 — 输入/输出配置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700784"/>
            <a:ext cx="4846320" cy="90525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738884"/>
            <a:ext cx="4709160" cy="841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DUT条码 Excel（可选，用于过滤条码）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输出目录（自动创建 产品类别_时间戳 子目录）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97480"/>
            <a:ext cx="484632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273558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Section 2 — 测试工站配置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026664"/>
            <a:ext cx="4846320" cy="104241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064764"/>
            <a:ext cx="4709160" cy="978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工站类型标签 + 数据文件夹路径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可折叠"工站合并配置"（源→目标合并）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↑↓ 键行间切换，✕ 按钮删除行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160520"/>
            <a:ext cx="484632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1986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Section 3 — 分析模式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489704"/>
            <a:ext cx="4846320" cy="90525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4527804"/>
            <a:ext cx="4709160" cy="841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xlsx / json 文件类型单选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5种模式下拉（悬停显示提示气泡）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故障分析方式（含失败/仅失败时显示）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5486400"/>
            <a:ext cx="484632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2" y="55245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Section 4 — 操作控制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5815584"/>
            <a:ext cx="4846320" cy="76809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853684"/>
            <a:ext cx="4709160" cy="704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开始分析 ↔ 停止分析（实时切换）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查看运行日志（独立深色弹窗）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进度标签 + 进度条实时更新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 种分析模式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覆盖发货批次分析 · 全量过程分析 · 失败根因分析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371600"/>
            <a:ext cx="3840480" cy="2377440"/>
          </a:xfrm>
          <a:prstGeom prst="rect">
            <a:avLst/>
          </a:prstGeom>
          <a:solidFill>
            <a:srgbClr val="F5ECE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371600"/>
            <a:ext cx="384048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4630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</a:rPr>
              <a:t>最后一次 pass 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828800"/>
            <a:ext cx="1371600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latest_pass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18379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0000"/>
                </a:solidFill>
              </a:rPr>
              <a:t>需 DUT 条码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121408"/>
            <a:ext cx="36758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取每个条码最新一次成功记录做 CPK。
适用：发货批次过程能力分析。
输出：missing_barcodes.xlsx + 报告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371600"/>
            <a:ext cx="3840480" cy="2377440"/>
          </a:xfrm>
          <a:prstGeom prst="rect">
            <a:avLst/>
          </a:prstGeom>
          <a:solidFill>
            <a:srgbClr val="F5ECE9"/>
          </a:solidFill>
          <a:ln w="19050">
            <a:solidFill>
              <a:srgbClr val="38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7952" y="1371600"/>
            <a:ext cx="3840480" cy="73152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4630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0800"/>
                </a:solidFill>
              </a:rPr>
              <a:t>所选文件夹分析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828800"/>
            <a:ext cx="1371600" cy="201168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folder_direct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18379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80800"/>
                </a:solidFill>
              </a:rPr>
              <a:t>可选 Excel 过滤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2121408"/>
            <a:ext cx="36758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遍历所有配置工站目录，提取 pass+fail 全量记录。
有失败时额外生成：fail_analysis_report.html
+ folder_direct_fail_analysis.xlsx（3 Sheet）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371600"/>
            <a:ext cx="3840480" cy="2377440"/>
          </a:xfrm>
          <a:prstGeom prst="rect">
            <a:avLst/>
          </a:prstGeom>
          <a:solidFill>
            <a:srgbClr val="F5ECE9"/>
          </a:solidFill>
          <a:ln w="19050">
            <a:solidFill>
              <a:srgbClr val="376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371600"/>
            <a:ext cx="3840480" cy="73152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146304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6034"/>
                </a:solidFill>
              </a:rPr>
              <a:t>全部成功数据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6" y="1828800"/>
            <a:ext cx="1371600" cy="201168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all_pass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18379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76034"/>
                </a:solidFill>
              </a:rPr>
              <a:t>无需 Excel，自动扫描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2121408"/>
            <a:ext cx="36758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收集全部工站成功记录（含同一模块多次通过）。
额外输出：duplicate_barcodes.xlsx（重复条码统计）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977640"/>
            <a:ext cx="3840480" cy="2377440"/>
          </a:xfrm>
          <a:prstGeom prst="rect">
            <a:avLst/>
          </a:prstGeom>
          <a:solidFill>
            <a:srgbClr val="F5ECE9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168" y="3977640"/>
            <a:ext cx="3840480" cy="7315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406908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35B1"/>
                </a:solidFill>
              </a:rPr>
              <a:t>所有数据（含失败）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4434840"/>
            <a:ext cx="1371600" cy="201168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434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all_with_fail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4439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E35B1"/>
                </a:solidFill>
              </a:rPr>
              <a:t>无需 Excel，触发故障分析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4727448"/>
            <a:ext cx="36758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pass+fail 全量 CPK，自动建立故障分析库。
重点：跨站比对（同模块不同设备数据关联）。
输出：fault_barcodes.xlsx + rule_suggestions.yaml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7952" y="3977640"/>
            <a:ext cx="3840480" cy="2377440"/>
          </a:xfrm>
          <a:prstGeom prst="rect">
            <a:avLst/>
          </a:prstGeom>
          <a:solidFill>
            <a:srgbClr val="F5ECE9"/>
          </a:solidFill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87952" y="3977640"/>
            <a:ext cx="3840480" cy="73152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9392" y="406908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6A02"/>
                </a:solidFill>
              </a:rPr>
              <a:t>仅失败数据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9392" y="4434840"/>
            <a:ext cx="1371600" cy="201168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4434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fail_only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2432" y="44439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F6A02"/>
                </a:solidFill>
              </a:rPr>
              <a:t>无需 Excel，触发故障分析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9392" y="4727448"/>
            <a:ext cx="36758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仅失败记录 CPK，深度分析失败规律。
高频失败项 / 设备错误 Top 排行 / 未分类样本。
输出：fault_barcodes.xlsx + rule_suggestions.yaml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数据提取与处理流程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以「所选文件夹分析」模式为例（全量遍历）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" y="2217420"/>
            <a:ext cx="1691640" cy="1417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① 配置工站目录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多个工站类型
各自配置文件夹
（FT1/FT2/Aging…）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282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9716" y="2217420"/>
            <a:ext cx="1691640" cy="1417320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458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② 全量遍历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458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_walk_all_records
_in_folder()
扫描barcode/ts结构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878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5676" y="2217420"/>
            <a:ext cx="1691640" cy="1417320"/>
          </a:xfrm>
          <a:prstGeom prst="rect">
            <a:avLst/>
          </a:prstGeom>
          <a:solidFill>
            <a:srgbClr val="00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54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③ 条码过滤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54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可选：按 DUT
Excel 筛选条码
（保留指定批次）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474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217420"/>
            <a:ext cx="1691640" cy="1417320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50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④ 文件复制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xlsx/json 复制
到输出目录
按工站类型归档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70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7596" y="2217420"/>
            <a:ext cx="1691640" cy="141732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246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⑤ CPK 计算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246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analyze_xlsx
_folder()
计算 Cp/Cpk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666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63556" y="2217420"/>
            <a:ext cx="1691640" cy="141732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8420" y="226314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⑥ 报告生成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8420" y="2601468"/>
            <a:ext cx="1600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CPK 报告
综合报告（6Tab）
失败分析报告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9090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  ◆  目录结构：&lt;工站根&gt; / TestResult / &lt;产品&gt; / &lt;工站类型&gt; / [中间层] / &lt;条码&gt; / &lt;时间戳&gt; / xlsx +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2748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  ◆  条码文件夹识别：直接子目录含时间戳格式（YYYYMMDDHHMMSS）文件夹，即视为条码文件夹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6405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  ◆  跳过规则：debug / file_bk / env_comp / RU*_Log_* 等目录自动跳过，深度上限 10 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0063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  ◆  工站合并：可将多个工站类型（如 FT1 + FT2）合并为同一 CPK 分析组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故障分析模块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规则库匹配 + Ollama LLM 增强 · 持续积累知识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2356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40970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基础版（规则库）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5623560" cy="213969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8884"/>
            <a:ext cx="5486400" cy="207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内置 16 类种子规则，覆盖主要故障类型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优先级：设备/通信错误 &gt; 失败测试项名 &gt; 日志关键词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CRITICAL 日志行结构化解析：测试项+测量值+限值+偏差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env_config.yml → VISA 地址映射 → EQP_ID 设备标识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设备错误 6 种正则：COM断连/VISA/串口超时/SSH/网络/射频开关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5852160" cy="329184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40970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增强版（规则库 + Ollama）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00784"/>
            <a:ext cx="5852160" cy="2139696"/>
          </a:xfrm>
          <a:prstGeom prst="rect">
            <a:avLst/>
          </a:prstGeom>
          <a:solidFill>
            <a:srgbClr val="FDE2E1"/>
          </a:solidFill>
          <a:ln w="9525">
            <a:solidFill>
              <a:srgbClr val="38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738884"/>
            <a:ext cx="5715000" cy="207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在规则库基础上，调用本地 Ollama LLM 辅助分析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端点：localhost:11434（推荐模型 qwen2.5:7b）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对未分类故障给出根因推断和处置建议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分析结果写入 fault_database.db（可持续积累）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仅对"所有数据（含失败）"和"仅失败数据"模式触发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11612880" cy="329184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0614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知识库持续积累流程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52544"/>
            <a:ext cx="11612880" cy="2093976"/>
          </a:xfrm>
          <a:prstGeom prst="rect">
            <a:avLst/>
          </a:prstGeom>
          <a:solidFill>
            <a:srgbClr val="FDE2E1"/>
          </a:solidFill>
          <a:ln w="9525">
            <a:solidFill>
              <a:srgbClr val="376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90644"/>
            <a:ext cx="11475720" cy="2030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1. 分析完成 → 生成 rule_suggestions_&lt;时间戳&gt;.yaml（含未分类样本 + Top10 失败项）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2. 工程师用文本编辑器填写 fault_type / suggestion（空白条目）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3. 菜单 → 工具 → 加载故障关系描述文件… → 选择 YAML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4. 系统自动合并入 fault_database.db（相同关键词更新，不重复导入）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5. 下次分析时新规则立即生效，未分类故障比例持续下降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输出文件 &amp; HTML 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每次运行隔离存放在 产品类别_时间戳/ 子目录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22376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40970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输出文件一览（按模式）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7223760" cy="483717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8884"/>
            <a:ext cx="7086600" cy="477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missing_barcodes.xlsx       — 缺失/异常条码明细（latest_pass / all_with_fail / fail_only）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duplicate_barcodes.xlsx     — 重复测试条码统计（all_pass）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fault_barcodes.xlsx         — 故障条码分类列表（all_with_fail / fail_only）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folder_direct_fail_analysis.xlsx  — 失败明细 3Sheet（所选文件夹分析）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rule_suggestions_&lt;ts&gt;.yaml  — 规则建议模板，供工程师填写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cpk_report.html             — CPK 专项报告（按工站+测试大项分组，所有模式）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comprehensive_report.html   — 综合分析报告 6 Tab（所有模式，自动浏览器打开）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fail_analysis_report.html   — 帕累托+汇总卡+失败条码表（所选文件夹分析）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fault_database.db           — 故障关系知识库（SQLite）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analysis_log_&lt;ts&gt;.txt       — 本次运行完整日志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4206240" cy="329184"/>
          </a:xfrm>
          <a:prstGeom prst="rect">
            <a:avLst/>
          </a:prstGeom>
          <a:solidFill>
            <a:srgbClr val="00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40970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综合报告（comprehensive_report.html）6 个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700784"/>
            <a:ext cx="4206240" cy="4837176"/>
          </a:xfrm>
          <a:prstGeom prst="rect">
            <a:avLst/>
          </a:prstGeom>
          <a:solidFill>
            <a:srgbClr val="FDE2E1"/>
          </a:solidFill>
          <a:ln w="9525">
            <a:solidFill>
              <a:srgbClr val="00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738884"/>
            <a:ext cx="4069080" cy="477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总览        — KPI 卡片 + 良率趋势 + 失败类型分布 + 测试大类汇总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失败分析    — Top25 高频失败项柱图（点击查看明细）+ 失败记录表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CPK 分析    — Cpk 横向柱图（色标分级：&lt;1红/1~1.33橙/≥1.33绿）+ 完整 CPK 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数据分布    — 按测试项切换堆叠直方图（pass蓝/fail红）+ 统计面板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失败模式    — 失败类型统计 + 时序热图 + 多失败项 SN 关联分析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故障回放    — 左侧 SN 列表（可搜索/过滤）+ 右侧逐项测试结果展开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0332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开发路线图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CC"/>
                </a:solidFill>
              </a:rPr>
              <a:t>P1 优先级 → P2 → 后期功能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Zillnk Efficiency Improvement Group  |  产线数据分析AI平台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520440" cy="329184"/>
          </a:xfrm>
          <a:prstGeom prst="rect">
            <a:avLst/>
          </a:prstGeom>
          <a:solidFill>
            <a:srgbClr val="376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4097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✅ 已完成（v2.0）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3520440" cy="4837176"/>
          </a:xfrm>
          <a:prstGeom prst="rect">
            <a:avLst/>
          </a:prstGeom>
          <a:solidFill>
            <a:srgbClr val="FDE2E1"/>
          </a:solidFill>
          <a:ln w="9525">
            <a:solidFill>
              <a:srgbClr val="376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8884"/>
            <a:ext cx="3383280" cy="477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5种分析模式全量提取 + CPK 计算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综合 HTML 报告（6 Tab，Chart.js）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失败分析报告（帕累托 + 汇总卡）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故障关系知识库（SQLite，16 类种子规则）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Ollama LLM 增强分析（可选）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YAML 规则导入工具（菜单入口）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工站合并配置（持久化）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000000"/>
                </a:solidFill>
              </a:rPr>
              <a:t>• GUI 自适应高度 + 深色日志弹窗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371600"/>
            <a:ext cx="3840480" cy="329184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140970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🔧 P1 — 近期优先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1700784"/>
            <a:ext cx="3840480" cy="2048256"/>
          </a:xfrm>
          <a:prstGeom prst="rect">
            <a:avLst/>
          </a:prstGeom>
          <a:solidFill>
            <a:srgbClr val="FDE2E1"/>
          </a:solidFill>
          <a:ln w="9525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79" y="1738884"/>
            <a:ext cx="3703320" cy="1984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HTML 报告重构：两级 Tab / 隐藏 CPK 列 / 全宽分布图 / 产品数据检索 Tab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env_comp/*.csv 仪器校准漂移检测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test_limits.yml 跨批次测试限值哈希比对（限值变更告警）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3931920"/>
            <a:ext cx="3840480" cy="329184"/>
          </a:xfrm>
          <a:prstGeom prst="rect">
            <a:avLst/>
          </a:prstGeom>
          <a:solidFill>
            <a:srgbClr val="3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397002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📋 P2 — 中期规划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4261104"/>
            <a:ext cx="3840480" cy="2276856"/>
          </a:xfrm>
          <a:prstGeom prst="rect">
            <a:avLst/>
          </a:prstGeom>
          <a:solidFill>
            <a:srgbClr val="FDE2E1"/>
          </a:solidFill>
          <a:ln w="9525">
            <a:solidFill>
              <a:srgbClr val="38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4299204"/>
            <a:ext cx="3703320" cy="221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Pass/Fail 差异比对引擎（barcode_comparisons 表）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load_knowledge_yaml() 后端独立封装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时间窗口聚类仪器告警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共失败关联性矩阵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all_with_fail 跨站推断自动化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371600"/>
            <a:ext cx="388620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1409700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🚀 后期功能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700784"/>
            <a:ext cx="3886200" cy="4837176"/>
          </a:xfrm>
          <a:prstGeom prst="rect">
            <a:avLst/>
          </a:prstGeom>
          <a:solidFill>
            <a:srgbClr val="FDE2E1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738884"/>
            <a:ext cx="3749040" cy="477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功能二：深科技 MES 导出数据 CPK 分析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（支持批次 / 工站 / 产品型号多维度）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功能三：立讯 MES 导出数据 CPK 分析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00000"/>
                </a:solidFill>
              </a:rPr>
              <a:t>• （支持批次 / 工站 / 产品型号多维度）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4Mjc3Y2M1ZWJjZWZjZTlhZDcxNTc1MDJmNWEyNzMifQ=="/>
  <p:tag name="KSO_WPP_MARK_KEY" val="4871e404-d02d-40a7-9426-16d7f37a2892"/>
</p:tagLst>
</file>

<file path=ppt/theme/theme1.xml><?xml version="1.0" encoding="utf-8"?>
<a:theme xmlns:a="http://schemas.openxmlformats.org/drawingml/2006/main" name="Office 主题​​">
  <a:themeElements>
    <a:clrScheme name="Zillnk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FF2726"/>
      </a:accent1>
      <a:accent2>
        <a:srgbClr val="380800"/>
      </a:accent2>
      <a:accent3>
        <a:srgbClr val="2E182C"/>
      </a:accent3>
      <a:accent4>
        <a:srgbClr val="F7ED87"/>
      </a:accent4>
      <a:accent5>
        <a:srgbClr val="FDE2E1"/>
      </a:accent5>
      <a:accent6>
        <a:srgbClr val="F5ECE9"/>
      </a:accent6>
      <a:hlink>
        <a:srgbClr val="000000"/>
      </a:hlink>
      <a:folHlink>
        <a:srgbClr val="000000"/>
      </a:folHlink>
    </a:clrScheme>
    <a:fontScheme name="Zillnk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PPT_format_20220512</Template>
  <TotalTime>10528</TotalTime>
  <Words>1243</Words>
  <Application>Microsoft Office PowerPoint</Application>
  <PresentationFormat>宽屏</PresentationFormat>
  <Paragraphs>475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Faktum</vt:lpstr>
      <vt:lpstr>Inter</vt:lpstr>
      <vt:lpstr>Inter Medium</vt:lpstr>
      <vt:lpstr>Meiryo UI</vt:lpstr>
      <vt:lpstr>楷体</vt:lpstr>
      <vt:lpstr>Arial</vt:lpstr>
      <vt:lpstr>Calibri</vt:lpstr>
      <vt:lpstr>Wingdings</vt:lpstr>
      <vt:lpstr>Office 主题​​</vt:lpstr>
      <vt:lpstr>Microsoft Visio Drawing</vt:lpstr>
      <vt:lpstr>PowerPoint 演示文稿</vt:lpstr>
      <vt:lpstr> </vt:lpstr>
      <vt:lpstr>PowerPoint 演示文稿</vt:lpstr>
      <vt:lpstr>N25N66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Manufacture  the best ORAN Radio</dc:title>
  <dc:creator>Wei Min</dc:creator>
  <cp:lastModifiedBy>A1283@365-office.ltd</cp:lastModifiedBy>
  <cp:revision>1252</cp:revision>
  <dcterms:created xsi:type="dcterms:W3CDTF">2022-05-16T11:25:00Z</dcterms:created>
  <dcterms:modified xsi:type="dcterms:W3CDTF">2025-08-21T06:18:08Z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ICV">
    <vt:lpwstr>0DB648CC09AE485081FFABB80265905D</vt:lpwstr>
  </op:property>
  <op:property fmtid="{D5CDD505-2E9C-101B-9397-08002B2CF9AE}" pid="3" name="KSOProductBuildVer">
    <vt:lpwstr>2052-11.1.0.12132</vt:lpwstr>
  </op:property>
  <op:property fmtid="{D5CDD505-2E9C-101B-9397-08002B2CF9AE}" pid="4" name="_IPGFID">
    <vt:lpwstr>[DocID]=A56703F4-3859-4C0F-A023-EDF63B03591A</vt:lpwstr>
  </op:property>
  <op:property fmtid="{D5CDD505-2E9C-101B-9397-08002B2CF9AE}" pid="5" name="_IPGFLOW_P-BF22_E-1_FP-1_SP-1_CV-63994DDD_CN-9CE7C668">
    <vt:lpwstr>M2XDjHpfvu4MCSqlitYIzDK4KnTkkYbvIf+ctfdeOwl4RVXDaaroWe776Yt1CDhx2uXAt7xxubgH5xVsJ12k3wPoR9JK4IT7WVDgo3LeZ9s6D/QjIymbUT98fzAKgv30lBixI4xiFtni8MjsLn7ZJZXkC6x0cbkalBuSpcVyVbYHgCleYgFH9F58mo018HfgtHOSwWgLKrFMeOb/0FfQMtX23FkUAeB2O+oTDVSIx9Zsu4YOqn+Pq1YHIqtmLTs</vt:lpwstr>
  </op:property>
  <op:property fmtid="{D5CDD505-2E9C-101B-9397-08002B2CF9AE}" pid="6" name="_IPGFLOW_P-BF22_E-1_FP-1_SP-2_CV-13E03C91_CN-787EA040">
    <vt:lpwstr>Jy8yveE6cdd2E6YKXyS74KzTQnF5jvJnTLEgqaP3gztjDpnS9Z3nkN8HyzW1MZBjjDfjoEqh01VOJaJK6TxLobdLXy5Xg0FPZX34MkNr6MhdOK6YNpQBQQo6GhXVaqR8tW//ler672fcBjlroq2WY1Q==</vt:lpwstr>
  </op:property>
  <op:property fmtid="{D5CDD505-2E9C-101B-9397-08002B2CF9AE}" pid="7" name="_IPGFLOW_P-BF22_E-0_FP-1_CV-FB4CA461_CN-450C36B0">
    <vt:lpwstr>DPSPMK|3|408|2|0</vt:lpwstr>
  </op:property>
  <op:property fmtid="{D5CDD505-2E9C-101B-9397-08002B2CF9AE}" pid="8" name="_IPGFLOW_P-BF22_E-1_FP-2_SP-1_CV-B3AD317A_CN-3DD630A">
    <vt:lpwstr>M2XDjHpfvu4MCSqlitYIzEBh0I1xGVtUcJ2+CCqUgR0Urk1ILQiYqZgwYWyITvQmKno8cDV5+qMxhxTm0bRV0bf2QCtxu3ptDSVDGeyyR3KrAJR5p0NohHbpOHCaSFUyb4VH4w3zhtJtcQE0FxEcFTG+XYyjBgRcH3vp2dSPF44HwZ0EneiDhG7JUo3LlqJyohiKVjKB6A9iOZ1zZ6xtgqwy9Q6mo96hBfIrOX21epy37o+cn5mL5KCRDJDQnYu</vt:lpwstr>
  </op:property>
  <op:property fmtid="{D5CDD505-2E9C-101B-9397-08002B2CF9AE}" pid="9" name="_IPGFLOW_P-BF22_E-1_FP-2_SP-2_CV-4E65B092_CN-CCB2602">
    <vt:lpwstr>qQBmnZCi8TwYKVV8Gg/LxV8g8nP9J668Vy3hZuPsLyDhBmoFPkAtOdJ2CvxpsQZOlgVnA+VWRwfKzppcQB/9q0jQaIffDDy1TWRQrXTYUPPtUR/TcKhZqXBRZClmK+MFJAq/2VdK+qJXl5hxOo+bHCw==</vt:lpwstr>
  </op:property>
  <op:property fmtid="{D5CDD505-2E9C-101B-9397-08002B2CF9AE}" pid="10" name="_IPGFLOW_P-BF22_E-0_FP-2_CV-FB4CA461_CN-F8C65A7E">
    <vt:lpwstr>DPSPMK|3|408|2|0</vt:lpwstr>
  </op:property>
  <op:property fmtid="{D5CDD505-2E9C-101B-9397-08002B2CF9AE}" pid="11" name="_IPGFLOW_P-BF22_E-1_FP-3_SP-1_CV-8ADD6C15_CN-9BBC56AD">
    <vt:lpwstr>M2XDjHpfvu4MCSqlitYIzLE/GHx6ByiXI8fiWPg+H0A+x8tGu5LYdOefTUwnA+SqtUaL9HQUQAk1OoI8B5lO8iohTuoEEpH1XsSfsWIHa743R49HNON7/ocsBnEH1jtJ+OTNOgcmjSMdL7jDUcZ2D2NiDtWcHXCyaYOGCb3p7XmdQRQ1W2+JMsbdUKI/pxvKsvhuD0rHoYP52JX1arFEHVnkkUwqKCWp+g1o3p5LYYJFaJkVCJ0irdhSFWjpVXg</vt:lpwstr>
  </op:property>
  <op:property fmtid="{D5CDD505-2E9C-101B-9397-08002B2CF9AE}" pid="12" name="_IPGFLOW_P-BF22_E-1_FP-3_SP-2_CV-E27A15BF_CN-8940A263">
    <vt:lpwstr>NXcrzejZlmL5yn/Mmk+vYPLpO/RNPS8BbcIPfR+cV9hMP5CEQO2laOEWs9ERJawJ9xDZSzHYL0S/Ro4OZL3RUc7ns3wgja39sCEbGD8xdJi9Z+p5+UMeKcn5SXE5tdpduu1/t5Ye42OYTdvxt/0wC7A==</vt:lpwstr>
  </op:property>
  <op:property fmtid="{D5CDD505-2E9C-101B-9397-08002B2CF9AE}" pid="13" name="_IPGFLOW_P-BF22_E-0_FP-3_CV-FB4CA461_CN-255083FB">
    <vt:lpwstr>DPSPMK|3|408|2|0</vt:lpwstr>
  </op:property>
  <op:property fmtid="{D5CDD505-2E9C-101B-9397-08002B2CF9AE}" pid="14" name="_IPGFLOW_P-BF22_E-1_FP-4_SP-1_CV-3E687D56_CN-E9E920D6">
    <vt:lpwstr>5zv2Z0IVQfhtLzto3OKlzi92h4Z1N8eIWkMyImaQros0hh4mjlwQjsVwe1F4MBEtY3E0ZRcSnKTcQ/lG6QHkbDpGyFXW25sLFzajcLkDHcFsOYk6woKpvzWVK8e6PGoPNtQ1ZivmVjsSRBtTso7oFKFWI6ZAh54AjKTPrQ1pQV8NDq03aNWQtUuY82CtMQN7RPqcesW2uHYZMYXFDZqbj9+c4ncjb9sSZpr4YYamL0JiVAgrFK3dOrlG4wg+8AB</vt:lpwstr>
  </op:property>
  <op:property fmtid="{D5CDD505-2E9C-101B-9397-08002B2CF9AE}" pid="15" name="_IPGFLOW_P-BF22_E-1_FP-4_SP-2_CV-235B3024_CN-5F128367">
    <vt:lpwstr>9gM5Jcb+4kjucJrO5NcgT9WfHTlblkonk5aunM+Pr0DnECnb0vP9glP7Tt1HnYVYZ8jnrx6Zao9GRcppudFghyRwY3nX3/fG3f2uKdpn2ztrZjc04QWTG96dHqCo5Rw1RttbKdSxE7tN78IL3HiTRMQ==</vt:lpwstr>
  </op:property>
  <op:property fmtid="{D5CDD505-2E9C-101B-9397-08002B2CF9AE}" pid="16" name="_IPGFLOW_P-BF22_E-0_FP-4_CV-FB4CA461_CN-582385A3">
    <vt:lpwstr>DPSPMK|3|408|2|0</vt:lpwstr>
  </op:property>
  <op:property fmtid="{D5CDD505-2E9C-101B-9397-08002B2CF9AE}" pid="17" name="_IPGFLOW_P-BF22_E-1_FP-5_SP-1_CV-7D33A9E2_CN-39B48A77">
    <vt:lpwstr>PCjD99drMKrKpMRttP3aYvMnBujWYBGGn9pb+LPJN33kW36v5ErPgoE17/M6oF50mp4cixa5NyFxm+irmmZGFXXeqliyzVAgMOF3pxIWZD/Tt/5rjaerDAuBdW4EE1j8gOQXobLoy5qaeR662kJLusx1b8sEOJVC2XmQFqajs6/b2gf+O6hFEB4g2zY/FKjVxW90w7SYhdBbTYmJEtxju1N6mCbgOgrz2yj/Tcc1zudlsyX6Ewoz9BB54mTPRiL</vt:lpwstr>
  </op:property>
  <op:property fmtid="{D5CDD505-2E9C-101B-9397-08002B2CF9AE}" pid="18" name="_IPGFLOW_P-BF22_E-1_FP-5_SP-2_CV-11C4BD31_CN-EBB31A44">
    <vt:lpwstr>qfjBjaXNFe5JLO3+CBzBZwsASKrCgfpf2OZqFgT8Pp/FUBKONJ1kTct6UZdhmLuhWD7k5a/Z4mqSpBBeYbTHq+1cARyKh07Xx4OtU79JM7CrsJpLLVImPn+X10C4lXBnprr4gcl6095/BbMDq/tN/dQ==</vt:lpwstr>
  </op:property>
  <op:property fmtid="{D5CDD505-2E9C-101B-9397-08002B2CF9AE}" pid="19" name="_IPGFLOW_P-BF22_E-0_FP-5_CV-FB4CA461_CN-85B55C26">
    <vt:lpwstr>DPSPMK|3|408|2|0</vt:lpwstr>
  </op:property>
  <op:property fmtid="{D5CDD505-2E9C-101B-9397-08002B2CF9AE}" pid="20" name="_IPGFLOW_P-BF22_E-1_FP-6_SP-1_CV-5E6C9642_CN-D8CAD59">
    <vt:lpwstr>PCjD99drMKrKpMRttP3aYhTxLaSomLAu3Gy44aUOGpyHYUHnHQ37dnT6Y43EeW7tlMCBgB4tinCnLkHtXub+Lkn2+rkyRVVA2wJB7L5lyQXz8FrcVpjwkfOhriMXLEZH2KIJECsHCN8Q5nSZpmNhkLdahQbA4rl9KVbgOExMCJW9tkXp611cWiqpdSfWcy+bk3ryNltqZyoV7V/x/LFPjCx6NTaxOTeUmZtuyzs4OzW76+5Zy/tJXIReyy25DQV</vt:lpwstr>
  </op:property>
  <op:property fmtid="{D5CDD505-2E9C-101B-9397-08002B2CF9AE}" pid="21" name="_IPGFLOW_P-BF22_E-1_FP-6_SP-2_CV-761ECBBA_CN-5AB5B7C6">
    <vt:lpwstr>1R6n7kC1u899l7CNgG2usXCdaOYlPqHl4kDRNJZYrOaeJsO/wMKxEYMs2v6q1GDPSLJxS77jWTOryLIcO/MrC1sHpiDfi6FO7E/CwJzEenknbtQfpiF/neUhxaQUUAZHVIRu2pITtgvR+0VsENTnmt7dNi8uprKFb6z02nEituWiUs9XZek07kHDx+qfb2UUVBplsPvPsSs3rmHHB4pXD74hNTpkN8EPZ+6S+FPzOvC0=</vt:lpwstr>
  </op:property>
  <op:property fmtid="{D5CDD505-2E9C-101B-9397-08002B2CF9AE}" pid="22" name="_IPGFLOW_P-BF22_E-0_FP-6_CV-96F3ED08_CN-1E05EBCC">
    <vt:lpwstr>DPSPMK|3|492|2|0</vt:lpwstr>
  </op:property>
  <op:property fmtid="{D5CDD505-2E9C-101B-9397-08002B2CF9AE}" pid="23" name="_IPGFLOW_P-BF22_E-1_FP-7_SP-1_CV-705C0B5E_CN-61B5CB3F">
    <vt:lpwstr>fEmuylduodjzxeWKsqTSFx4pWUcOpDgwUEKX0KX8GbbWEUQgiPFGH8QEQGRsDJy0GXBGzm9PAssnSgzxLmDLDHmayCsie+T0CBxyvpJsMwID8pSDxRt2bfWr2OTodQ8aDafZxrOa4voT+6aRPvCdqNgcD13ghxvx4Ux0D2kEMTlEIln5fxPrfuv99Dqy1Fj1cUQnPiJANnSlRMbHGl0ljUNnFUn0hq4j6IV8YOr6GS8SmAf0JqAwvWPAgcjELX6</vt:lpwstr>
  </op:property>
  <op:property fmtid="{D5CDD505-2E9C-101B-9397-08002B2CF9AE}" pid="24" name="_IPGFLOW_P-BF22_E-1_FP-7_SP-2_CV-95CE70E5_CN-7C6E0D55">
    <vt:lpwstr>Bve6+IhpvqJU6IsRtCn+X+gMaeqG6PPgePRcPJw9gkdQFMNXV6E4KwmeFzNjQGv8MQot26/T8Y27T/oZup0sRERpAzVHNwPtusQpkf6GghhrHVF+ouJEt4wpbwhuchvFeebjtwbB9hBsk2jjgueJUkw==</vt:lpwstr>
  </op:property>
  <op:property fmtid="{D5CDD505-2E9C-101B-9397-08002B2CF9AE}" pid="25" name="_IPGFLOW_P-BF22_E-0_FP-7_CV-FB4CA461_CN-E5E9E96D">
    <vt:lpwstr>DPSPMK|3|408|2|0</vt:lpwstr>
  </op:property>
  <op:property fmtid="{D5CDD505-2E9C-101B-9397-08002B2CF9AE}" pid="26" name="_IPGFLOW_P-BF22_E-1_FP-8_SP-1_CV-E3C7CE63_CN-77F0D5C9">
    <vt:lpwstr>vU/E9lODxDDZ0IxqA8QqxUtHK73f31zBZQMhMMc2/oxiYzVleW16fOvMkEUMFWB4Es0t/IUlwZYDkZu0/r6SLwJ0nXVrGIxluO3G5j/NzgIn5XDS8ELbLk4uEztNv3igk8uCqUJNMzF8sa1kstWiWs1aPWKmMyIErursNRGXn0iibY5H5TKRlqYw2YZiIPEUuyVPVaG0ri9M0UwHkU+lPT8hKO9ytV3xftK327q8YpnLye2rgVi/QObT0i4ootQ</vt:lpwstr>
  </op:property>
  <op:property fmtid="{D5CDD505-2E9C-101B-9397-08002B2CF9AE}" pid="27" name="_IPGFLOW_P-BF22_E-1_FP-8_SP-2_CV-E95D83EF_CN-C57C0E73">
    <vt:lpwstr>R0rjkJMSXzK7i5cc1qWx/yVHeUbJCEhiDNQBKENAQv1AhvlZC/x8WrhODv655pfI394RVzPMJeyb7mtWxq5bb+0jU857rEQEL08X7pyKghRRxNFjldBj+xKDmtbnM6e0Z7dBYnOWn+n0Y8LWyXzAuuWlYXmBF/ZCSFp94JkQhufWI8PdIqY8529LdK/+CrnMo2cJ+kVxWimysXtrVeidBRFeh6c4P9I3wmu2fQqTwyQQ=</vt:lpwstr>
  </op:property>
  <op:property fmtid="{D5CDD505-2E9C-101B-9397-08002B2CF9AE}" pid="28" name="_IPGFLOW_P-BF22_E-0_FP-8_CV-96F3ED08_CN-E4E3E77C">
    <vt:lpwstr>DPSPMK|3|492|2|0</vt:lpwstr>
  </op:property>
  <op:property fmtid="{D5CDD505-2E9C-101B-9397-08002B2CF9AE}" pid="29" name="_IPGFLOW_P-BF22_E-1_FP-9_SP-1_CV-5AE464F2_CN-8F16B1DE">
    <vt:lpwstr>5W1nOua7MCBnv/aE6JkO8H26aQg7zf97Ec2AcVcjksFlh7UNesbV943B8Dp0EP0gVVd8NqNSKRTuoSS8xJgFuckWreAfGV1XrzlvCSSMnjgrl2Zp7Nc/Yq4y1J/17zVIJ/POR8KupY3DwC1mI0GAkzpl+dAm767VUXhYt3wDCzuHTs6M6IE05UjKdGUwAoo8oOBt2FNE/9aNvs1z8DWJE3GLAxiJds1QT8GOvkGgPFYhbB+oSWxfy/veDKVJJYo</vt:lpwstr>
  </op:property>
  <op:property fmtid="{D5CDD505-2E9C-101B-9397-08002B2CF9AE}" pid="30" name="_IPGFLOW_P-BF22_E-1_FP-9_SP-2_CV-18E13B4F_CN-2A4583E3">
    <vt:lpwstr>d03NlVysIAlpH5mNkib3KF9FWGp5gbZO2lPlS1OTKaPhhRdDQrP7P7Vj92M6gycY+XUm29JQcY1nVxFytzbsqI1njRN9J3p1y2d3wV3qLbV7A4JDFRyZ/oueJZr9WSOQ6gPUyXgAun65BYYLuh/PzdA==</vt:lpwstr>
  </op:property>
  <op:property fmtid="{D5CDD505-2E9C-101B-9397-08002B2CF9AE}" pid="31" name="_IPGFLOW_P-BF22_E-0_FP-9_CV-FB4CA461_CN-1F0FE5DD">
    <vt:lpwstr>DPSPMK|3|408|2|0</vt:lpwstr>
  </op:property>
  <op:property fmtid="{D5CDD505-2E9C-101B-9397-08002B2CF9AE}" pid="32" name="_IPGFLOW_P-BF22_E-1_FP-A_SP-1_CV-3694B26D_CN-B4E64784">
    <vt:lpwstr>5W1nOua7MCBnv/aE6JkO8LGrIUzWYhl+aKAhZHxK6cwLly1u+IV/ZYsgmQNr2hgRW2S/V3mpZ2BpG+R2s7tOM1cYVUqlmjF025kWQMwUTsYH7zpncGXfXHL/dkr4MO/c6urgM7g3rp7m6sqmX3tKx0dBKM1gy3UbVxJX9IY9ObooTnoZL/wYl69s5f54oEymuu2h++RPEcwxLX5qIOX4VY8Ab2uZ1A9NX192idleHS2l9UWD7xOQ18bEvZm7Zo4</vt:lpwstr>
  </op:property>
  <op:property fmtid="{D5CDD505-2E9C-101B-9397-08002B2CF9AE}" pid="33" name="_IPGFLOW_P-BF22_E-1_FP-A_SP-2_CV-3E1D4067_CN-45F188F6">
    <vt:lpwstr>pFbU/RfPB0xt5/3tmoY9kdtJ8DswML0XRVNqSF33w5CwOxBbUHuSbBCdBhKXUFaOHU9CmrFlkxEfhlzjWAOJVvpkt4qiLqPU0vq0fw4OuAdICgm+h6l/THZzgN1X4DmUUHZzwOimSFu0E+Y7yhjsiaA==</vt:lpwstr>
  </op:property>
  <op:property fmtid="{D5CDD505-2E9C-101B-9397-08002B2CF9AE}" pid="34" name="_IPGFLOW_P-BF22_E-0_FP-A_CV-FB4CA461_CN-FFF84A34">
    <vt:lpwstr>DPSPMK|3|408|2|0</vt:lpwstr>
  </op:property>
  <op:property fmtid="{D5CDD505-2E9C-101B-9397-08002B2CF9AE}" pid="35" name="_IPGFLOW_P-BF22_E-1_FP-B_SP-1_CV-47E49C6C_CN-F95BE5A8">
    <vt:lpwstr>8Jq+TvmqGJd83orLCdlBjyzBEwKpnfqtj8pf80xUSPXcsBJTR4z5182ZhZselcJp4OGq+RIVsa2/G/unQp01EfsDHXMT74W5FclgK/005fPLJ9zQMRC+KgJHWUK/DNT22aBJcBDHicfoDpg3HXjtDZyedzRpzmHOKHRLzEP8OM/pQTe3W08vHO+54B0lNQkjLhskmmN8JLmA+IBlZcahlwWdeOfVkx/TKt3IPQQARjtABADMSwSo84R8yYAHz9u</vt:lpwstr>
  </op:property>
  <op:property fmtid="{D5CDD505-2E9C-101B-9397-08002B2CF9AE}" pid="36" name="_IPGFLOW_P-BF22_E-1_FP-B_SP-2_CV-146142D0_CN-B938CC8">
    <vt:lpwstr>MW2pGwPsRjPUo1ExV5J7B+Q+wdwk2EqlArZ/094YDHeO53VCgR7cd5TH1wz3J4FOJxgpFmpwRb0OsnSRSnFImHDuXBS4FiA1ne8hI7h9BdQ/n1xOGvbvceJWcYJV2gy/78PE6pknj4E2kNtKAKmVX/lnjKhprbh3qhkj2JLQcsC3102CIuAxIXKhmbpj5KPnbWCkLklF7G69JLy/sEPAw7DdriUOyhS49PiDByPB8SKA=</vt:lpwstr>
  </op:property>
  <op:property fmtid="{D5CDD505-2E9C-101B-9397-08002B2CF9AE}" pid="37" name="_IPGFLOW_P-BF22_E-0_FP-B_CV-96F3ED08_CN-6448FDDE">
    <vt:lpwstr>DPSPMK|3|492|2|0</vt:lpwstr>
  </op:property>
  <op:property fmtid="{D5CDD505-2E9C-101B-9397-08002B2CF9AE}" pid="38" name="_IPGFLOW_P-BF22_E-1_FP-C_SP-1_CV-440FF41A_CN-3CB15FFD">
    <vt:lpwstr>Xv5ZG9QkWGKqYla6H2+o7zALteWYupgHmezy3Kf9XX0jxpgbdK8kifQE6TEt/xw6dky03mfaGaEyxZlQHVn6dlUCGgmzpxvwg8S75hnMddsQ/AskH9Tn8DPklwMw5mQbEXJZ7JBPm4Ch03XQ9yM7HhR6YeYzyCWLT0jIq7Nm1RptHbZUH8ZvE3Dh7SlhGXo6p8oUN0ozCMtIJ//jPgNmOPM/CcW/oWtet80vUnjo0zEMOCulpo3pqceaSVRjaeJ</vt:lpwstr>
  </op:property>
  <op:property fmtid="{D5CDD505-2E9C-101B-9397-08002B2CF9AE}" pid="39" name="_IPGFLOW_P-BF22_E-1_FP-C_SP-2_CV-D8376E87_CN-FE05BEBD">
    <vt:lpwstr>s3fv4Qg09ZN4qR2E2OhrCijPQAXFncZN5qDN/LrWET5CUJAmCMzpe+Iwsn8S2p6Ktgz5OxieCj4D+a1nnw5Myy2salrTJWG3cu0LQVsDRAnSgmP7B7M8bnoevOKJhdVKw2RobyLcv1fVL/CvW5SVnKQ==</vt:lpwstr>
  </op:property>
  <op:property fmtid="{D5CDD505-2E9C-101B-9397-08002B2CF9AE}" pid="40" name="_IPGFLOW_P-BF22_E-0_FP-C_CV-FB4CA461_CN-9FA4FF7F">
    <vt:lpwstr>DPSPMK|3|408|2|0</vt:lpwstr>
  </op:property>
  <op:property fmtid="{D5CDD505-2E9C-101B-9397-08002B2CF9AE}" pid="41" name="_IPGFLOW_P-BF22_E-1_FP-D_SP-1_CV-2EA883E0_CN-358D3B39">
    <vt:lpwstr>Oi/NpsO+xFw5GBrZyHqHuQbmGpw+xz39d+5H+r8E1Jtx9x76nSH+pZUr/pDl37HLb5iH+irkvMviDW9SJLlR0C8w9Yq0btCYxacAZzzfSY60unECA7MEvsPDBewq/hcDBYS4/cV8XBCfuP2vGmVHQHURSVcV+U9etmtsXJhCJW9hO9hhdz7gidjdV5Ie/cCAaRFWAG3r3LZfBlU8CZ6qDlmp9JZXvzU6BGxw3jT+3A2wrjincsk8uKFlHJqFQp9</vt:lpwstr>
  </op:property>
  <op:property fmtid="{D5CDD505-2E9C-101B-9397-08002B2CF9AE}" pid="42" name="_IPGFLOW_P-BF22_E-1_FP-D_SP-2_CV-BBB4569D_CN-8297FEAF">
    <vt:lpwstr>33DLi7CQ/zFONryGsDEUvsF+VmjtEc5ycDkEQm5PauAnZJ/zO/gQnNSb9QmSZMhs6zqp8xGhOPSBpTIeUiW7WmtfQzkyQtnVHBS8Ztcx70uLM8CL0pj7egPX5/cjQ3DT5v3wEd2No7AIaFm7hhoP1wg==</vt:lpwstr>
  </op:property>
  <op:property fmtid="{D5CDD505-2E9C-101B-9397-08002B2CF9AE}" pid="43" name="_IPGFLOW_P-BF22_E-0_FP-D_CV-FB4CA461_CN-E2D7F927">
    <vt:lpwstr>DPSPMK|3|408|2|0</vt:lpwstr>
  </op:property>
  <op:property fmtid="{D5CDD505-2E9C-101B-9397-08002B2CF9AE}" pid="44" name="_IPGFLOW_P-BF22_E-1_FP-E_SP-1_CV-E8CEB321_CN-AE84BE90">
    <vt:lpwstr>tAo7U1YHrSFMpfVuZpl8fCWmLBZWn8EGyKj+B4bsAcSgUydw/DXRXvPVy89vsN14d4OwqpL6J/uL42n5RjUqHVKKvKbpGE41JmvnGqG/LjUl60tuMNOZriOb7aIz328ooGIxqUcXKArfK7XIHOB0GYNpqpOIRtdbusd6K7nNnYiM7dAGJdUStILJI0bOnFj35pcHaZ9n53LNMm0WK0ybWrJgl4iLxELCY29zoNtO++IKimGn/bkhzaJKlbxVxZm</vt:lpwstr>
  </op:property>
  <op:property fmtid="{D5CDD505-2E9C-101B-9397-08002B2CF9AE}" pid="45" name="_IPGFLOW_P-BF22_E-1_FP-E_SP-2_CV-E46C6FDE_CN-982B27DD">
    <vt:lpwstr>t/ZSLuzvYm8jOoCMSFFMhRhWQuesmHsNDXk9OU8HAV+TQ2rqjQjfq+x+yq17TfbI+sVY/1eGivMUwHuwcS2oaHW0sDIqqCeLwQ2whxzQ32533GSTKF3frbBjXHhZ+gCw/HeytJw6iw6oXwlagYsFTOQ==</vt:lpwstr>
  </op:property>
  <op:property fmtid="{D5CDD505-2E9C-101B-9397-08002B2CF9AE}" pid="46" name="_IPGFLOW_P-BF22_E-0_FP-E_CV-FB4CA461_CN-3F4120A2">
    <vt:lpwstr>DPSPMK|3|408|2|0</vt:lpwstr>
  </op:property>
  <op:property fmtid="{D5CDD505-2E9C-101B-9397-08002B2CF9AE}" pid="47" name="_IPGFLOW_P-BF22_E-1_FP-F_SP-1_CV-30F6D448_CN-FCCFE855">
    <vt:lpwstr>tAo7U1YHrSFMpfVuZpl8fE10SG2aHdTao7O/5lqpZoZN490KTQ9pTZMzIAihocDzlrlZjhCsw0m6xaSUxYlV5IO44jL5A8c/kNoLda/z+HgRou1c+CCkGja+s/ajgg/oKiEV9Jo3OuhlNJXz59XuD8TRxqB7c0HBju6au7A2mRMJ/YvAldcBgaEMx6c5/QDppktIJJ7ESJuo08Oh47zVyJAW7hxKYzpgi47WuHjPwzjh8XLod5K08gwlefqXxXt</vt:lpwstr>
  </op:property>
  <op:property fmtid="{D5CDD505-2E9C-101B-9397-08002B2CF9AE}" pid="48" name="_IPGFLOW_P-BF22_E-1_FP-F_SP-2_CV-5971F726_CN-790136E8">
    <vt:lpwstr>dSTkZNFdWVa8tzu5YJHvuCk3beGxLao3E/XXYwX1Ozvg4nKJ+Zgc35w3QU6RGqjO7ujMe5l/oxxBWYnwwKTPXG9g6ZLvkjDQ8snsGGy1N+UIS9VIkTb44bZ2e2xp4rlt4SKgOTKlKjaf8szo8IwgHTw==</vt:lpwstr>
  </op:property>
  <op:property fmtid="{D5CDD505-2E9C-101B-9397-08002B2CF9AE}" pid="49" name="_IPGFLOW_P-BF22_E-0_FP-F_CV-FB4CA461_CN-828B4C6C">
    <vt:lpwstr>DPSPMK|3|408|2|0</vt:lpwstr>
  </op:property>
  <op:property fmtid="{D5CDD505-2E9C-101B-9397-08002B2CF9AE}" pid="50" name="_IPGFLOW_P-BF22_E-1_FP-10_SP-1_CV-74CFFAFF_CN-456196F7">
    <vt:lpwstr>s1E84HZ5A5Ei1zquq6TQ1YqZX0PdGRCB957YQ4K7LdES6UJVMWIG3C9OZFZPTdZJ0i6KJ2Gf8fSnVOFlud38o1s71AnWfQWzNBGEBAk+W2x8eiYiNZlgSYUaQadENwYlNodv3FEn/KPMLiPFz532H8+ISyVlV3F5s8sGL8aOT7ZflveM+8G3JnK4+9/qeLdx6x1Hhc6+1E6/ZT6o0UGfidstAZv+6/WIZBfzeBoGXKDMYW8abmotuX62FSu0+Wl</vt:lpwstr>
  </op:property>
  <op:property fmtid="{D5CDD505-2E9C-101B-9397-08002B2CF9AE}" pid="51" name="_IPGFLOW_P-BF22_E-1_FP-10_SP-2_CV-D70DC4F4_CN-C7051041">
    <vt:lpwstr>cYW0NFXr3QT+7/QSIfsB3r2lzqeKJip+3OIVRhD52LNCjaku89jtJUYknqZO1fTPddtNj54ydVUTO0joTiDqyARCj3p18ux0LdMtCMWCV9hTQvzrcR41GIyBiLdAT8MavCd1DYKotUIYRitpDpR5qcQ==</vt:lpwstr>
  </op:property>
  <op:property fmtid="{D5CDD505-2E9C-101B-9397-08002B2CF9AE}" pid="52" name="_IPGFLOW_P-BF22_E-0_FP-10_CV-FB4CA461_CN-10666171">
    <vt:lpwstr>DPSPMK|3|408|2|0</vt:lpwstr>
  </op:property>
  <op:property fmtid="{D5CDD505-2E9C-101B-9397-08002B2CF9AE}" pid="53" name="_IPGFLOW_P-BF22_E-1_FP-11_SP-1_CV-A2D799EA_CN-A69C3BBE">
    <vt:lpwstr>s1E84HZ5A5Ei1zquq6TQ1Ueft/Guu8hH2mHhggOPcYDkU/BT01gEKuCxlQcvMeB5ldCmn/6qZ/vz0/Umtg1F5n8Vx7CggRCQTOglR6cvPAnN255A9cbR7Sm/w1jGpVq36rWt/DvVJXeXHOS8lEQSoEzj5dvD8WZvLyvSCuA80r0EAqikBF+BCfrMTuaqFsuXDjZAcfuN1pwuFpnrJ5UPwKkxOV+2NkbW5w6iJP290rErfrgT30WN8Taf/n1llvs</vt:lpwstr>
  </op:property>
  <op:property fmtid="{D5CDD505-2E9C-101B-9397-08002B2CF9AE}" pid="54" name="_IPGFLOW_P-BF22_E-1_FP-11_SP-2_CV-109AE611_CN-D054496E">
    <vt:lpwstr>23l0Yf/SLsD9kh79aJUBgksoz6JtasrYPUM7CS2cbNG7SfS0azNg02kPj8J2hdrVp8kd7cElZj2Q2um0tlsDARkhl+n7zxLTJS4xPr/1PfIFIbl3Td/dMMwJPU7cqoQaDhI65lgZUZBp/oEJqEkuGqg==</vt:lpwstr>
  </op:property>
  <op:property fmtid="{D5CDD505-2E9C-101B-9397-08002B2CF9AE}" pid="55" name="_IPGFLOW_P-BF22_E-0_FP-11_CV-FB4CA461_CN-CDF0B8F4">
    <vt:lpwstr>DPSPMK|3|408|2|0</vt:lpwstr>
  </op:property>
  <op:property fmtid="{D5CDD505-2E9C-101B-9397-08002B2CF9AE}" pid="56" name="_IPGFLOW_P-BF22_E-1_FP-12_SP-1_CV-C7D9817D_CN-38FBA941">
    <vt:lpwstr>4lHB0zXpM26lNSizeomXTJucNNDpZh10sls7vuRPkpH2zktH5I9BiFvsC3Ot+ugQmMig3WFISMZmm1LldwAuJ85sEDcMeYYmofrWA89Me1CYW6WnZLczs7HMAqUePM0swgkq9T2jS2rbNvRA7xdt39ekewO/vS+YhJqgDjYQNKaD/HAJ/QLLdr4t8d5lNvZtBBZL0KmA8qhsAiNXciwNKhvCBJ1RtKScl6O6C6d6tMlw1xhheNZtB/p8tx2K9wr</vt:lpwstr>
  </op:property>
  <op:property fmtid="{D5CDD505-2E9C-101B-9397-08002B2CF9AE}" pid="57" name="_IPGFLOW_P-BF22_E-1_FP-12_SP-2_CV-A6D1B6F9_CN-484E91CC">
    <vt:lpwstr>MboW3BQ7EioylNCIvvDWDvRiXxGL11RrvZ36OoaZ5MA6dcVYEdzEZa5FiOx1qZ8/Vr6TcWMEc9eaTDy7Zs7KyuLbleaVM5xhjRf7el+BMIfV1PinhX0VnJR3VTJfItO9sSc1fonqp9fSUW0kPkuTfkw==</vt:lpwstr>
  </op:property>
  <op:property fmtid="{D5CDD505-2E9C-101B-9397-08002B2CF9AE}" pid="58" name="_IPGFLOW_P-BF22_E-0_FP-12_CV-FB4CA461_CN-703AD43A">
    <vt:lpwstr>DPSPMK|3|408|2|0</vt:lpwstr>
  </op:property>
  <op:property fmtid="{D5CDD505-2E9C-101B-9397-08002B2CF9AE}" pid="59" name="_IPGFLOW_P-BF22_E-0_CV-77726C5C_CN-928D5B3A">
    <vt:lpwstr>DPFPMK|3|50|19|0</vt:lpwstr>
  </op:property>
  <op:property fmtid="{D5CDD505-2E9C-101B-9397-08002B2CF9AE}" pid="60" name="_IPGFLOW_P-BF22_E-1_FP-13_SP-1_CV-7E2FA765_CN-E1E3B45">
    <vt:lpwstr>4lHB0zXpM26lNSizeomXTEKaF2xytNlw0Y97lfujDuLge14KfUi7xh9iL1Zra6sQn71vmp9wxLvmevOaZgP3K2CVK7aGK9bmaVda+7XPV84wwvA50BrMhymmUTDtmlCA8qRusDP4ZhTayz1abQnJ/GUOCvqqVIrb1ZYb3QPEP71k8rzi3D/q9UttrHjEnDrAUw/ygjrjNcTiqreBdbmJIH/V55SrCXPdMi6gOz5RTdb30DpGu5ZudMa9CLb0+3g</vt:lpwstr>
  </op:property>
  <op:property fmtid="{D5CDD505-2E9C-101B-9397-08002B2CF9AE}" pid="61" name="_IPGFLOW_P-BF22_E-1_FP-13_SP-2_CV-8C56D62A_CN-E8EB4A4E">
    <vt:lpwstr>GC7nQYbJz9jozoKcmf7lAd7lgkWkiNQHCSXP66qCnOseRDpmEfYqBNqd0HdndiGDrfOzXztecoWucWMLgPVLTwvEMF3v3ftRWOXjqStpgpSRwUJK3xJNCZwouDjB079gDZxsGNTKTJpGxKC7mXtaR9g==</vt:lpwstr>
  </op:property>
  <op:property fmtid="{D5CDD505-2E9C-101B-9397-08002B2CF9AE}" pid="62" name="_IPGFLOW_P-BF22_E-0_FP-13_CV-FB4CA461_CN-ADAC0DBF">
    <vt:lpwstr>DPSPMK|3|408|2|0</vt:lpwstr>
  </op:property>
</op:Properties>
</file>